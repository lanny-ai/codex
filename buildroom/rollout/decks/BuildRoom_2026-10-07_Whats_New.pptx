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ctober 7" id="{414a249d-2fa3-4a9a-a7f6-734e7fa018c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Build Room OS · October 7,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Build Room · October 7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What's new in Build Room OS, and the sequence we run this month</a:t>
            </a:r>
            <a:endParaRPr lang="en-US" sz="1800" dirty="0"/>
          </a:p>
        </p:txBody>
      </p:sp>
      <p:sp>
        <p:nvSpPr>
          <p:cNvPr id="4" name="brand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AI Momentum 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Since last week</a:t>
            </a:r>
            <a:endParaRPr lang="en-US" sz="3000" dirty="0"/>
          </a:p>
        </p:txBody>
      </p:sp>
      <p:sp>
        <p:nvSpPr>
          <p:cNvPr id="3" name="lede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One new skill, one tightened chain, one new zip.</a:t>
            </a:r>
            <a:endParaRPr lang="en-US" sz="1600" dirty="0"/>
          </a:p>
        </p:txBody>
      </p:sp>
      <p:sp>
        <p:nvSpPr>
          <p:cNvPr id="4" name="card Funnel Scorecard + Leak Finder"/>
          <p:cNvSpPr/>
          <p:nvPr/>
        </p:nvSpPr>
        <p:spPr>
          <a:xfrm>
            <a:off x="54864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 Funnel Scorecard + Leak Finder"/>
          <p:cNvSpPr txBox="1"/>
          <p:nvPr/>
        </p:nvSpPr>
        <p:spPr>
          <a:xfrm>
            <a:off x="731520" y="17373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Funnel Scorecard + Leak Finder</a:t>
            </a:r>
            <a:endParaRPr lang="en-US" sz="1500" dirty="0"/>
          </a:p>
        </p:txBody>
      </p:sp>
      <p:sp>
        <p:nvSpPr>
          <p:cNvPr id="6" name="body Funnel Scorecard + Leak Finder"/>
          <p:cNvSpPr txBox="1"/>
          <p:nvPr/>
        </p:nvSpPr>
        <p:spPr>
          <a:xfrm>
            <a:off x="731520" y="2066544"/>
            <a:ext cx="3566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Joins the Automation month as Week 4. Twenty-six skills now.</a:t>
            </a:r>
            <a:endParaRPr lang="en-US" sz="1200" dirty="0"/>
          </a:p>
        </p:txBody>
      </p:sp>
      <p:sp>
        <p:nvSpPr>
          <p:cNvPr id="7" name="card Funnel Map closes into the chain"/>
          <p:cNvSpPr/>
          <p:nvPr/>
        </p:nvSpPr>
        <p:spPr>
          <a:xfrm>
            <a:off x="466344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head Funnel Map closes into the chain"/>
          <p:cNvSpPr txBox="1"/>
          <p:nvPr/>
        </p:nvSpPr>
        <p:spPr>
          <a:xfrm>
            <a:off x="4846320" y="17373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Funnel Map closes into the chain</a:t>
            </a:r>
            <a:endParaRPr lang="en-US" sz="1500" dirty="0"/>
          </a:p>
        </p:txBody>
      </p:sp>
      <p:sp>
        <p:nvSpPr>
          <p:cNvPr id="9" name="body Funnel Map closes into the chain"/>
          <p:cNvSpPr txBox="1"/>
          <p:nvPr/>
        </p:nvSpPr>
        <p:spPr>
          <a:xfrm>
            <a:off x="4846320" y="2066544"/>
            <a:ext cx="3566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Decision Machine, then Lead Capture, then the Scorecard once real traffic has flowed for a week.</a:t>
            </a:r>
            <a:endParaRPr lang="en-US" sz="1200" dirty="0"/>
          </a:p>
        </p:txBody>
      </p:sp>
      <p:sp>
        <p:nvSpPr>
          <p:cNvPr id="10" name="card §6 gained two lines"/>
          <p:cNvSpPr/>
          <p:nvPr/>
        </p:nvSpPr>
        <p:spPr>
          <a:xfrm>
            <a:off x="548640" y="32004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head §6 gained two lines"/>
          <p:cNvSpPr txBox="1"/>
          <p:nvPr/>
        </p:nvSpPr>
        <p:spPr>
          <a:xfrm>
            <a:off x="731520" y="3291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§6 gained two lines</a:t>
            </a:r>
            <a:endParaRPr lang="en-US" sz="1500" dirty="0"/>
          </a:p>
        </p:txBody>
      </p:sp>
      <p:sp>
        <p:nvSpPr>
          <p:cNvPr id="12" name="body §6 gained two lines"/>
          <p:cNvSpPr txBox="1"/>
          <p:nvPr/>
        </p:nvSpPr>
        <p:spPr>
          <a:xfrm>
            <a:off x="731520" y="3621024"/>
            <a:ext cx="3566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funnel scorecard and the leak finder routine now live in the Business File.</a:t>
            </a:r>
            <a:endParaRPr lang="en-US" sz="1200" dirty="0"/>
          </a:p>
        </p:txBody>
      </p:sp>
      <p:sp>
        <p:nvSpPr>
          <p:cNvPr id="13" name="card New zip"/>
          <p:cNvSpPr/>
          <p:nvPr/>
        </p:nvSpPr>
        <p:spPr>
          <a:xfrm>
            <a:off x="4663440" y="32004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head New zip"/>
          <p:cNvSpPr txBox="1"/>
          <p:nvPr/>
        </p:nvSpPr>
        <p:spPr>
          <a:xfrm>
            <a:off x="4846320" y="3291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New zip</a:t>
            </a:r>
            <a:endParaRPr lang="en-US" sz="1500" dirty="0"/>
          </a:p>
        </p:txBody>
      </p:sp>
      <p:sp>
        <p:nvSpPr>
          <p:cNvPr id="15" name="body New zip"/>
          <p:cNvSpPr txBox="1"/>
          <p:nvPr/>
        </p:nvSpPr>
        <p:spPr>
          <a:xfrm>
            <a:off x="4846320" y="3621024"/>
            <a:ext cx="3566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Installed last week? Replace the folder. Cowork: upload one new file, buildroom-funnel-scorecard.skill.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Funnel Scorecard + Leak Finder</a:t>
            </a:r>
            <a:endParaRPr lang="en-US" sz="3000" dirty="0"/>
          </a:p>
        </p:txBody>
      </p:sp>
      <p:sp>
        <p:nvSpPr>
          <p:cNvPr id="3" name="phrase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"Where is my funnel leaking?"</a:t>
            </a:r>
            <a:endParaRPr lang="en-US" sz="1600" dirty="0"/>
          </a:p>
        </p:txBody>
      </p:sp>
      <p:sp>
        <p:nvSpPr>
          <p:cNvPr id="4" name="card Stage table"/>
          <p:cNvSpPr/>
          <p:nvPr/>
        </p:nvSpPr>
        <p:spPr>
          <a:xfrm>
            <a:off x="548640" y="150876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 Stage table"/>
          <p:cNvSpPr txBox="1"/>
          <p:nvPr/>
        </p:nvSpPr>
        <p:spPr>
          <a:xfrm>
            <a:off x="731520" y="16002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Stage table</a:t>
            </a:r>
            <a:endParaRPr lang="en-US" sz="1500" dirty="0"/>
          </a:p>
        </p:txBody>
      </p:sp>
      <p:sp>
        <p:nvSpPr>
          <p:cNvPr id="6" name="body Stage table"/>
          <p:cNvSpPr txBox="1"/>
          <p:nvPr/>
        </p:nvSpPr>
        <p:spPr>
          <a:xfrm>
            <a:off x="731520" y="19293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 failure point: entered, converted, rate, change, source. Nothing estimated; unread stays UNREAD.</a:t>
            </a:r>
            <a:endParaRPr lang="en-US" sz="1200" dirty="0"/>
          </a:p>
        </p:txBody>
      </p:sp>
      <p:sp>
        <p:nvSpPr>
          <p:cNvPr id="7" name="card Install the measurement"/>
          <p:cNvSpPr/>
          <p:nvPr/>
        </p:nvSpPr>
        <p:spPr>
          <a:xfrm>
            <a:off x="4663440" y="150876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head Install the measurement"/>
          <p:cNvSpPr txBox="1"/>
          <p:nvPr/>
        </p:nvSpPr>
        <p:spPr>
          <a:xfrm>
            <a:off x="4846320" y="16002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Install the measurement</a:t>
            </a:r>
            <a:endParaRPr lang="en-US" sz="1500" dirty="0"/>
          </a:p>
        </p:txBody>
      </p:sp>
      <p:sp>
        <p:nvSpPr>
          <p:cNvPr id="9" name="body Install the measurement"/>
          <p:cNvSpPr txBox="1"/>
          <p:nvPr/>
        </p:nvSpPr>
        <p:spPr>
          <a:xfrm>
            <a:off x="4846320" y="19293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If nothing is measured, the first deliverable is the exact pipeline stages to create.</a:t>
            </a:r>
            <a:endParaRPr lang="en-US" sz="1200" dirty="0"/>
          </a:p>
        </p:txBody>
      </p:sp>
      <p:sp>
        <p:nvSpPr>
          <p:cNvPr id="10" name="card What moved"/>
          <p:cNvSpPr/>
          <p:nvPr/>
        </p:nvSpPr>
        <p:spPr>
          <a:xfrm>
            <a:off x="548640" y="2587752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head What moved"/>
          <p:cNvSpPr txBox="1"/>
          <p:nvPr/>
        </p:nvSpPr>
        <p:spPr>
          <a:xfrm>
            <a:off x="731520" y="2679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What moved</a:t>
            </a:r>
            <a:endParaRPr lang="en-US" sz="1500" dirty="0"/>
          </a:p>
        </p:txBody>
      </p:sp>
      <p:sp>
        <p:nvSpPr>
          <p:cNvPr id="12" name="body What moved"/>
          <p:cNvSpPr txBox="1"/>
          <p:nvPr/>
        </p:nvSpPr>
        <p:spPr>
          <a:xfrm>
            <a:off x="731520" y="30083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Leads moved forward, revenue recorded, and the follow-up check: has every lead been touched?</a:t>
            </a:r>
            <a:endParaRPr lang="en-US" sz="1200" dirty="0"/>
          </a:p>
        </p:txBody>
      </p:sp>
      <p:sp>
        <p:nvSpPr>
          <p:cNvPr id="13" name="card Top three leaks"/>
          <p:cNvSpPr/>
          <p:nvPr/>
        </p:nvSpPr>
        <p:spPr>
          <a:xfrm>
            <a:off x="4663440" y="2587752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head Top three leaks"/>
          <p:cNvSpPr txBox="1"/>
          <p:nvPr/>
        </p:nvSpPr>
        <p:spPr>
          <a:xfrm>
            <a:off x="4846320" y="2679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Top three leaks</a:t>
            </a:r>
            <a:endParaRPr lang="en-US" sz="1500" dirty="0"/>
          </a:p>
        </p:txBody>
      </p:sp>
      <p:sp>
        <p:nvSpPr>
          <p:cNvPr id="15" name="body Top three leaks"/>
          <p:cNvSpPr txBox="1"/>
          <p:nvPr/>
        </p:nvSpPr>
        <p:spPr>
          <a:xfrm>
            <a:off x="4846320" y="30083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Ranked by revenue at risk, two or three fixes each, routed to the campaign that owns it.</a:t>
            </a:r>
            <a:endParaRPr lang="en-US" sz="1200" dirty="0"/>
          </a:p>
        </p:txBody>
      </p:sp>
      <p:sp>
        <p:nvSpPr>
          <p:cNvPr id="16" name="card You approve each fix"/>
          <p:cNvSpPr/>
          <p:nvPr/>
        </p:nvSpPr>
        <p:spPr>
          <a:xfrm>
            <a:off x="548640" y="3666744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head You approve each fix"/>
          <p:cNvSpPr txBox="1"/>
          <p:nvPr/>
        </p:nvSpPr>
        <p:spPr>
          <a:xfrm>
            <a:off x="731520" y="37581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You approve each fix</a:t>
            </a:r>
            <a:endParaRPr lang="en-US" sz="1500" dirty="0"/>
          </a:p>
        </p:txBody>
      </p:sp>
      <p:sp>
        <p:nvSpPr>
          <p:cNvPr id="18" name="body You approve each fix"/>
          <p:cNvSpPr txBox="1"/>
          <p:nvPr/>
        </p:nvSpPr>
        <p:spPr>
          <a:xfrm>
            <a:off x="731520" y="40873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Approve, skip, or give feedback. The skill applies nothing itself.</a:t>
            </a:r>
            <a:endParaRPr lang="en-US" sz="1200" dirty="0"/>
          </a:p>
        </p:txBody>
      </p:sp>
      <p:sp>
        <p:nvSpPr>
          <p:cNvPr id="19" name="card Weekly routine"/>
          <p:cNvSpPr/>
          <p:nvPr/>
        </p:nvSpPr>
        <p:spPr>
          <a:xfrm>
            <a:off x="4663440" y="3666744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head Weekly routine"/>
          <p:cNvSpPr txBox="1"/>
          <p:nvPr/>
        </p:nvSpPr>
        <p:spPr>
          <a:xfrm>
            <a:off x="4846320" y="37581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Weekly routine</a:t>
            </a:r>
            <a:endParaRPr lang="en-US" sz="1500" dirty="0"/>
          </a:p>
        </p:txBody>
      </p:sp>
      <p:sp>
        <p:nvSpPr>
          <p:cNvPr id="21" name="body Weekly routine"/>
          <p:cNvSpPr txBox="1"/>
          <p:nvPr/>
        </p:nvSpPr>
        <p:spPr>
          <a:xfrm>
            <a:off x="4846320" y="40873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Shown in full, created only on your yes. Re-runs, proposes, never applies, fails loud.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Why Week 4 matters</a:t>
            </a:r>
            <a:endParaRPr lang="en-US" sz="3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"If I lined up a hundred entrepreneurs and said, show me your KPIs step by step, maybe two or three could show me the failure rate at every step of their business."</a:t>
            </a:r>
            <a:endParaRPr lang="en-US" sz="2000" dirty="0"/>
          </a:p>
        </p:txBody>
      </p:sp>
      <p:sp>
        <p:nvSpPr>
          <p:cNvPr id="4" name="dot Funnel Map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Funnel Map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Funnel Map"/>
          <p:cNvSpPr txBox="1"/>
          <p:nvPr/>
        </p:nvSpPr>
        <p:spPr>
          <a:xfrm>
            <a:off x="5486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Funnel Map</a:t>
            </a:r>
            <a:endParaRPr lang="en-US" sz="1600" dirty="0"/>
          </a:p>
        </p:txBody>
      </p:sp>
      <p:sp>
        <p:nvSpPr>
          <p:cNvPr id="7" name="desc Funnel Map"/>
          <p:cNvSpPr txBox="1"/>
          <p:nvPr/>
        </p:nvSpPr>
        <p:spPr>
          <a:xfrm>
            <a:off x="5486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names the stages</a:t>
            </a:r>
            <a:endParaRPr lang="en-US" sz="1300" dirty="0"/>
          </a:p>
        </p:txBody>
      </p:sp>
      <p:sp>
        <p:nvSpPr>
          <p:cNvPr id="8" name="dot Decision Machine"/>
          <p:cNvSpPr/>
          <p:nvPr/>
        </p:nvSpPr>
        <p:spPr>
          <a:xfrm>
            <a:off x="3291840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um Decision Machine"/>
          <p:cNvSpPr txBox="1"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Decision Machine"/>
          <p:cNvSpPr txBox="1"/>
          <p:nvPr/>
        </p:nvSpPr>
        <p:spPr>
          <a:xfrm>
            <a:off x="32918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Machine</a:t>
            </a:r>
            <a:endParaRPr lang="en-US" sz="1600" dirty="0"/>
          </a:p>
        </p:txBody>
      </p:sp>
      <p:sp>
        <p:nvSpPr>
          <p:cNvPr id="11" name="desc Decision Machine"/>
          <p:cNvSpPr txBox="1"/>
          <p:nvPr/>
        </p:nvSpPr>
        <p:spPr>
          <a:xfrm>
            <a:off x="32918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puts a campaign on each one</a:t>
            </a:r>
            <a:endParaRPr lang="en-US" sz="1300" dirty="0"/>
          </a:p>
        </p:txBody>
      </p:sp>
      <p:sp>
        <p:nvSpPr>
          <p:cNvPr id="12" name="dot Funnel Scorecard"/>
          <p:cNvSpPr/>
          <p:nvPr/>
        </p:nvSpPr>
        <p:spPr>
          <a:xfrm>
            <a:off x="6035040" y="29260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num Funnel Scorecard"/>
          <p:cNvSpPr txBox="1"/>
          <p:nvPr/>
        </p:nvSpPr>
        <p:spPr>
          <a:xfrm>
            <a:off x="6035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Funnel Scorecard"/>
          <p:cNvSpPr txBox="1"/>
          <p:nvPr/>
        </p:nvSpPr>
        <p:spPr>
          <a:xfrm>
            <a:off x="60350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Funnel Scorecard</a:t>
            </a:r>
            <a:endParaRPr lang="en-US" sz="1600" dirty="0"/>
          </a:p>
        </p:txBody>
      </p:sp>
      <p:sp>
        <p:nvSpPr>
          <p:cNvPr id="15" name="desc Funnel Scorecard"/>
          <p:cNvSpPr txBox="1"/>
          <p:nvPr/>
        </p:nvSpPr>
        <p:spPr>
          <a:xfrm>
            <a:off x="60350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tells you which campaign to fix next, every week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sequence for October</a:t>
            </a:r>
            <a:endParaRPr lang="en-US" sz="3000" dirty="0"/>
          </a:p>
        </p:txBody>
      </p:sp>
      <p:graphicFrame>
        <p:nvGraphicFramePr>
          <p:cNvPr id="6" name="seque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21945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Session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Leaves you with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1 · today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Funnel Map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"Help me map my funnel"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§6: one conversion event, the map, the drop-off, the trigger map, baseline metrics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Decision Machine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"Build my follow-up system"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§16: a campaign on every yes/no, one belief per message, a build map and a tag checklist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Lead Capture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"Help me build my opt-in page"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§7: lead magnet, landing page, delivery automation, published to your own domain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Funnel Scorecard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"Where is my funnel leaking?"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Measured stages, the top leaks, approved fixes, an optional weekly routine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gate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Weeks 2 and 3 both require §6. Today is the gate for the month.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Today: Funnel Map, live</a:t>
            </a:r>
            <a:endParaRPr lang="en-US" sz="3000" dirty="0"/>
          </a:p>
        </p:txBody>
      </p:sp>
      <p:sp>
        <p:nvSpPr>
          <p:cNvPr id="3" name="time Open the Viewer"/>
          <p:cNvSpPr/>
          <p:nvPr/>
        </p:nvSpPr>
        <p:spPr>
          <a:xfrm>
            <a:off x="548640" y="123444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imetext Open the Viewer"/>
          <p:cNvSpPr txBox="1"/>
          <p:nvPr/>
        </p:nvSpPr>
        <p:spPr>
          <a:xfrm>
            <a:off x="548640" y="12344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 min</a:t>
            </a:r>
            <a:endParaRPr lang="en-US" sz="1800" dirty="0"/>
          </a:p>
        </p:txBody>
      </p:sp>
      <p:sp>
        <p:nvSpPr>
          <p:cNvPr id="5" name="label Open the Viewer"/>
          <p:cNvSpPr txBox="1"/>
          <p:nvPr/>
        </p:nvSpPr>
        <p:spPr>
          <a:xfrm>
            <a:off x="1920240" y="1280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Open the Viewer</a:t>
            </a:r>
            <a:endParaRPr lang="en-US" sz="1600" dirty="0"/>
          </a:p>
        </p:txBody>
      </p:sp>
      <p:sp>
        <p:nvSpPr>
          <p:cNvPr id="6" name="detail Open the Viewer"/>
          <p:cNvSpPr txBox="1"/>
          <p:nvPr/>
        </p:nvSpPr>
        <p:spPr>
          <a:xfrm>
            <a:off x="1920240" y="1618488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Business File Viewer on your file. Empty §1? Say "I'm new to the Build Room, set me up" while the rest watch the demo.</a:t>
            </a:r>
            <a:endParaRPr lang="en-US" sz="1200" dirty="0"/>
          </a:p>
        </p:txBody>
      </p:sp>
      <p:sp>
        <p:nvSpPr>
          <p:cNvPr id="7" name="time Map it"/>
          <p:cNvSpPr/>
          <p:nvPr/>
        </p:nvSpPr>
        <p:spPr>
          <a:xfrm>
            <a:off x="548640" y="237744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imetext Map it"/>
          <p:cNvSpPr txBox="1"/>
          <p:nvPr/>
        </p:nvSpPr>
        <p:spPr>
          <a:xfrm>
            <a:off x="548640" y="23774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40 min</a:t>
            </a:r>
            <a:endParaRPr lang="en-US" sz="1800" dirty="0"/>
          </a:p>
        </p:txBody>
      </p:sp>
      <p:sp>
        <p:nvSpPr>
          <p:cNvPr id="9" name="label Map it"/>
          <p:cNvSpPr txBox="1"/>
          <p:nvPr/>
        </p:nvSpPr>
        <p:spPr>
          <a:xfrm>
            <a:off x="192024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Map it</a:t>
            </a:r>
            <a:endParaRPr lang="en-US" sz="1600" dirty="0"/>
          </a:p>
        </p:txBody>
      </p:sp>
      <p:sp>
        <p:nvSpPr>
          <p:cNvPr id="10" name="detail Map it"/>
          <p:cNvSpPr txBox="1"/>
          <p:nvPr/>
        </p:nvSpPr>
        <p:spPr>
          <a:xfrm>
            <a:off x="1920240" y="2761488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"Help me map my funnel." One volunteer on screen, everyone in parallel. One question at a time. Fix the leak before adding stages. One conversion event, defended.</a:t>
            </a:r>
            <a:endParaRPr lang="en-US" sz="1200" dirty="0"/>
          </a:p>
        </p:txBody>
      </p:sp>
      <p:sp>
        <p:nvSpPr>
          <p:cNvPr id="11" name="time See it land"/>
          <p:cNvSpPr/>
          <p:nvPr/>
        </p:nvSpPr>
        <p:spPr>
          <a:xfrm>
            <a:off x="548640" y="352044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imetext See it land"/>
          <p:cNvSpPr txBox="1"/>
          <p:nvPr/>
        </p:nvSpPr>
        <p:spPr>
          <a:xfrm>
            <a:off x="548640" y="35204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 min</a:t>
            </a:r>
            <a:endParaRPr lang="en-US" sz="1800" dirty="0"/>
          </a:p>
        </p:txBody>
      </p:sp>
      <p:sp>
        <p:nvSpPr>
          <p:cNvPr id="13" name="label See it land"/>
          <p:cNvSpPr txBox="1"/>
          <p:nvPr/>
        </p:nvSpPr>
        <p:spPr>
          <a:xfrm>
            <a:off x="1920240" y="3566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See it land</a:t>
            </a:r>
            <a:endParaRPr lang="en-US" sz="1600" dirty="0"/>
          </a:p>
        </p:txBody>
      </p:sp>
      <p:sp>
        <p:nvSpPr>
          <p:cNvPr id="14" name="detail See it land"/>
          <p:cNvSpPr txBox="1"/>
          <p:nvPr/>
        </p:nvSpPr>
        <p:spPr>
          <a:xfrm>
            <a:off x="1920240" y="3904488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Paste the updated file into the Viewer. §6 flips to complete. The navigator points at Decision Machine. That is the homework.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Before Week 2, do these</a:t>
            </a:r>
            <a:endParaRPr lang="en-US" sz="3000" dirty="0"/>
          </a:p>
        </p:txBody>
      </p:sp>
      <p:sp>
        <p:nvSpPr>
          <p:cNvPr id="3" name="card Thin §3?"/>
          <p:cNvSpPr/>
          <p:nvPr/>
        </p:nvSpPr>
        <p:spPr>
          <a:xfrm>
            <a:off x="548640" y="12344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head Thin §3?"/>
          <p:cNvSpPr txBox="1"/>
          <p:nvPr/>
        </p:nvSpPr>
        <p:spPr>
          <a:xfrm>
            <a:off x="731520" y="1325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Thin §3?</a:t>
            </a:r>
            <a:endParaRPr lang="en-US" sz="1500" dirty="0"/>
          </a:p>
        </p:txBody>
      </p:sp>
      <p:sp>
        <p:nvSpPr>
          <p:cNvPr id="5" name="body Thin §3?"/>
          <p:cNvSpPr txBox="1"/>
          <p:nvPr/>
        </p:nvSpPr>
        <p:spPr>
          <a:xfrm>
            <a:off x="731520" y="1655064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"Make my offer a no-brainer." The Decision Machine stops dead on a missing offer: "if your offer sucks, none of it matters."</a:t>
            </a:r>
            <a:endParaRPr lang="en-US" sz="1200" dirty="0"/>
          </a:p>
        </p:txBody>
      </p:sp>
      <p:sp>
        <p:nvSpPr>
          <p:cNvPr id="6" name="card Hypothesis-only §2?"/>
          <p:cNvSpPr/>
          <p:nvPr/>
        </p:nvSpPr>
        <p:spPr>
          <a:xfrm>
            <a:off x="4663440" y="12344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head Hypothesis-only §2?"/>
          <p:cNvSpPr txBox="1"/>
          <p:nvPr/>
        </p:nvSpPr>
        <p:spPr>
          <a:xfrm>
            <a:off x="4846320" y="1325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Hypothesis-only §2?</a:t>
            </a:r>
            <a:endParaRPr lang="en-US" sz="1500" dirty="0"/>
          </a:p>
        </p:txBody>
      </p:sp>
      <p:sp>
        <p:nvSpPr>
          <p:cNvPr id="8" name="body Hypothesis-only §2?"/>
          <p:cNvSpPr txBox="1"/>
          <p:nvPr/>
        </p:nvSpPr>
        <p:spPr>
          <a:xfrm>
            <a:off x="4846320" y="1655064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"Find the words my clients actually use." The five beliefs come from real client language.</a:t>
            </a:r>
            <a:endParaRPr lang="en-US" sz="1200" dirty="0"/>
          </a:p>
        </p:txBody>
      </p:sp>
      <p:sp>
        <p:nvSpPr>
          <p:cNvPr id="9" name="card No §17 yet?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head No §17 yet?"/>
          <p:cNvSpPr txBox="1"/>
          <p:nvPr/>
        </p:nvSpPr>
        <p:spPr>
          <a:xfrm>
            <a:off x="731520" y="2926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 §17 yet?</a:t>
            </a:r>
            <a:endParaRPr lang="en-US" sz="1500" dirty="0"/>
          </a:p>
        </p:txBody>
      </p:sp>
      <p:sp>
        <p:nvSpPr>
          <p:cNvPr id="11" name="body No §17 yet?"/>
          <p:cNvSpPr txBox="1"/>
          <p:nvPr/>
        </p:nvSpPr>
        <p:spPr>
          <a:xfrm>
            <a:off x="731520" y="3255264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"Build my compass." Every message in Week 2 will sound like you.</a:t>
            </a:r>
            <a:endParaRPr lang="en-US" sz="1200" dirty="0"/>
          </a:p>
        </p:txBody>
      </p:sp>
      <p:sp>
        <p:nvSpPr>
          <p:cNvPr id="12" name="card Create your GHL key now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head Create your GHL key now"/>
          <p:cNvSpPr txBox="1"/>
          <p:nvPr/>
        </p:nvSpPr>
        <p:spPr>
          <a:xfrm>
            <a:off x="4846320" y="2926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Create your GHL key now</a:t>
            </a:r>
            <a:endParaRPr lang="en-US" sz="1500" dirty="0"/>
          </a:p>
        </p:txBody>
      </p:sp>
      <p:sp>
        <p:nvSpPr>
          <p:cNvPr id="14" name="body Create your GHL key now"/>
          <p:cNvSpPr txBox="1"/>
          <p:nvPr/>
        </p:nvSpPr>
        <p:spPr>
          <a:xfrm>
            <a:off x="4846320" y="3255264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private integration key. Tags batch through the API; through the browser it is one tag at a time, and it burns the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loop, in one line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Map it. Put a campaign on every yes/no. Build the front door. Measure every stage and fix the biggest leak every week.</a:t>
            </a:r>
            <a:endParaRPr lang="en-US" sz="18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file. Every session reads it before asking you anything.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RoomDark">
  <a:themeElements>
    <a:clrScheme name="BuildRoomDark">
      <a:dk1>
        <a:srgbClr val="0F1420"/>
      </a:dk1>
      <a:lt1>
        <a:srgbClr val="F4F6FA"/>
      </a:lt1>
      <a:dk2>
        <a:srgbClr val="1B2434"/>
      </a:dk2>
      <a:lt2>
        <a:srgbClr val="C9D3E3"/>
      </a:lt2>
      <a:accent1>
        <a:srgbClr val="F2B33D"/>
      </a:accent1>
      <a:accent2>
        <a:srgbClr val="4FB3A9"/>
      </a:accent2>
      <a:accent3>
        <a:srgbClr val="E86F5C"/>
      </a:accent3>
      <a:accent4>
        <a:srgbClr val="7C9CF2"/>
      </a:accent4>
      <a:accent5>
        <a:srgbClr val="A8B5C9"/>
      </a:accent5>
      <a:accent6>
        <a:srgbClr val="6B7A90"/>
      </a:accent6>
      <a:hlink>
        <a:srgbClr val="F2B33D"/>
      </a:hlink>
      <a:folHlink>
        <a:srgbClr val="C9D3E3"/>
      </a:folHlink>
    </a:clrScheme>
    <a:fontScheme name="BuildRoom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2026-10-06T21:45:46Z</dcterms:created>
  <dcterms:modified xsi:type="dcterms:W3CDTF">2026-10-06T21:45:46Z</dcterms:modified>
</cp:coreProperties>
</file>