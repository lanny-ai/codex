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8e647b4fef44198" /><Relationship Type="http://schemas.openxmlformats.org/officeDocument/2006/relationships/extended-properties" Target="/docProps/app.xml" Id="Rf7bc197209ef4b30" /><Relationship Type="http://schemas.openxmlformats.org/officeDocument/2006/relationships/officeDocument" Target="/ppt/presentation.xml" Id="R39c55f1447f6434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898793401634398"/>
  </p:sldMasterIdLst>
  <p:notesMasterIdLst>
    <p:notesMasterId xmlns:r="http://schemas.openxmlformats.org/officeDocument/2006/relationships" r:id="R7bd7dd08448e4b02"/>
  </p:notesMasterIdLst>
  <p:sldIdLst>
    <p:sldId xmlns:r="http://schemas.openxmlformats.org/officeDocument/2006/relationships" id="256" r:id="R20d1a0ac735241cd"/>
    <p:sldId xmlns:r="http://schemas.openxmlformats.org/officeDocument/2006/relationships" id="257" r:id="R6eb8892ffa304429"/>
    <p:sldId xmlns:r="http://schemas.openxmlformats.org/officeDocument/2006/relationships" id="258" r:id="Rebe1d763837b4fbd"/>
    <p:sldId xmlns:r="http://schemas.openxmlformats.org/officeDocument/2006/relationships" id="259" r:id="Rea395f48603342f3"/>
    <p:sldId xmlns:r="http://schemas.openxmlformats.org/officeDocument/2006/relationships" id="260" r:id="R386e02bef3b84f4a"/>
    <p:sldId xmlns:r="http://schemas.openxmlformats.org/officeDocument/2006/relationships" id="261" r:id="R8692c28478764fa0"/>
    <p:sldId xmlns:r="http://schemas.openxmlformats.org/officeDocument/2006/relationships" id="262" r:id="Rc22f36c28c8f455b"/>
    <p:sldId xmlns:r="http://schemas.openxmlformats.org/officeDocument/2006/relationships" id="263" r:id="Rbf8837f8c6764528"/>
    <p:sldId xmlns:r="http://schemas.openxmlformats.org/officeDocument/2006/relationships" id="264" r:id="R9f97746c150c4e28"/>
    <p:sldId xmlns:r="http://schemas.openxmlformats.org/officeDocument/2006/relationships" id="265" r:id="Rd3c9a5cf0a19427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6898ca003b94f19" /><Relationship Type="http://schemas.openxmlformats.org/officeDocument/2006/relationships/slideMaster" Target="/ppt/slideMasters/slideMaster1.xml" Id="R2898793401634398" /><Relationship Type="http://schemas.openxmlformats.org/officeDocument/2006/relationships/notesMaster" Target="/ppt/notesMasters/notesMaster1.xml" Id="R7bd7dd08448e4b02" /><Relationship Type="http://schemas.openxmlformats.org/officeDocument/2006/relationships/presProps" Target="/ppt/presProps.xml" Id="R5663d3489bd1490f" /><Relationship Type="http://schemas.openxmlformats.org/officeDocument/2006/relationships/tableStyles" Target="/ppt/tableStyles.xml" Id="Rd2d12b764bf943ac" /><Relationship Type="http://schemas.openxmlformats.org/officeDocument/2006/relationships/slide" Target="/ppt/slides/slide1.xml" Id="R20d1a0ac735241cd" /><Relationship Type="http://schemas.openxmlformats.org/officeDocument/2006/relationships/slide" Target="/ppt/slides/slide2.xml" Id="R6eb8892ffa304429" /><Relationship Type="http://schemas.openxmlformats.org/officeDocument/2006/relationships/slide" Target="/ppt/slides/slide3.xml" Id="Rebe1d763837b4fbd" /><Relationship Type="http://schemas.openxmlformats.org/officeDocument/2006/relationships/slide" Target="/ppt/slides/slide4.xml" Id="Rea395f48603342f3" /><Relationship Type="http://schemas.openxmlformats.org/officeDocument/2006/relationships/slide" Target="/ppt/slides/slide5.xml" Id="R386e02bef3b84f4a" /><Relationship Type="http://schemas.openxmlformats.org/officeDocument/2006/relationships/slide" Target="/ppt/slides/slide6.xml" Id="R8692c28478764fa0" /><Relationship Type="http://schemas.openxmlformats.org/officeDocument/2006/relationships/slide" Target="/ppt/slides/slide7.xml" Id="Rc22f36c28c8f455b" /><Relationship Type="http://schemas.openxmlformats.org/officeDocument/2006/relationships/slide" Target="/ppt/slides/slide8.xml" Id="Rbf8837f8c6764528" /><Relationship Type="http://schemas.openxmlformats.org/officeDocument/2006/relationships/slide" Target="/ppt/slides/slide9.xml" Id="R9f97746c150c4e28" /><Relationship Type="http://schemas.openxmlformats.org/officeDocument/2006/relationships/slide" Target="/ppt/slides/slide10.xml" Id="Rd3c9a5cf0a19427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09986224c5a4f1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b508d0340a5490f" /><Relationship Type="http://schemas.openxmlformats.org/officeDocument/2006/relationships/notesMaster" Target="/ppt/notesMasters/notesMaster1.xml" Id="R53f4e61264a34e5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91368dea1d74a9b" /><Relationship Type="http://schemas.openxmlformats.org/officeDocument/2006/relationships/notesMaster" Target="/ppt/notesMasters/notesMaster1.xml" Id="Re95a6b9549c5452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99f05bce81a41e5" /><Relationship Type="http://schemas.openxmlformats.org/officeDocument/2006/relationships/notesMaster" Target="/ppt/notesMasters/notesMaster1.xml" Id="Re21b85cde7e84ea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aae536ad1234da4" /><Relationship Type="http://schemas.openxmlformats.org/officeDocument/2006/relationships/notesMaster" Target="/ppt/notesMasters/notesMaster1.xml" Id="R653796f3541348f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ae11afbd6a040f1" /><Relationship Type="http://schemas.openxmlformats.org/officeDocument/2006/relationships/notesMaster" Target="/ppt/notesMasters/notesMaster1.xml" Id="R6cc7bccdbf49467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c8a34d4438940af" /><Relationship Type="http://schemas.openxmlformats.org/officeDocument/2006/relationships/notesMaster" Target="/ppt/notesMasters/notesMaster1.xml" Id="R3abbef63f1604b3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15284f8895e4161" /><Relationship Type="http://schemas.openxmlformats.org/officeDocument/2006/relationships/notesMaster" Target="/ppt/notesMasters/notesMaster1.xml" Id="R760bedda4a284b8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9353f5daff14c93" /><Relationship Type="http://schemas.openxmlformats.org/officeDocument/2006/relationships/notesMaster" Target="/ppt/notesMasters/notesMaster1.xml" Id="R31970bf9059a4c8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cb5a510351a4c68" /><Relationship Type="http://schemas.openxmlformats.org/officeDocument/2006/relationships/notesMaster" Target="/ppt/notesMasters/notesMaster1.xml" Id="R2309a9fb09c4481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5fec357746f4dd2" /><Relationship Type="http://schemas.openxmlformats.org/officeDocument/2006/relationships/notesMaster" Target="/ppt/notesMasters/notesMaster1.xml" Id="R891986094ff34a3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ab4c4a685e43d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52fd6c8659b48fe" /><Relationship Type="http://schemas.openxmlformats.org/officeDocument/2006/relationships/slideLayout" Target="/ppt/slideLayouts/slideLayout1.xml" Id="R15ef4464710d41d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5ef4464710d41d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63d7f76c5143d8" /><Relationship Type="http://schemas.openxmlformats.org/officeDocument/2006/relationships/notesSlide" Target="/ppt/notesSlides/notesSlide1.xml" Id="R0646da4c3c36480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ad5be1219242ab" /><Relationship Type="http://schemas.openxmlformats.org/officeDocument/2006/relationships/notesSlide" Target="/ppt/notesSlides/notesSlide2.xml" Id="R67937416eea744a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4c0d87fcb44f16" /><Relationship Type="http://schemas.openxmlformats.org/officeDocument/2006/relationships/notesSlide" Target="/ppt/notesSlides/notesSlide3.xml" Id="Rfe1f1791bbe44dc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1e70d0b7554359" /><Relationship Type="http://schemas.openxmlformats.org/officeDocument/2006/relationships/notesSlide" Target="/ppt/notesSlides/notesSlide4.xml" Id="Rc221789720274dc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a2fc9167cd47a8" /><Relationship Type="http://schemas.openxmlformats.org/officeDocument/2006/relationships/notesSlide" Target="/ppt/notesSlides/notesSlide5.xml" Id="R09150fa5a8d245f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bbaf8e6ae84b55" /><Relationship Type="http://schemas.openxmlformats.org/officeDocument/2006/relationships/notesSlide" Target="/ppt/notesSlides/notesSlide6.xml" Id="Rc8aecb4af3114c4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06a567c2bf4d54" /><Relationship Type="http://schemas.openxmlformats.org/officeDocument/2006/relationships/notesSlide" Target="/ppt/notesSlides/notesSlide7.xml" Id="R7c29c69f9d90494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ee2011aa264151" /><Relationship Type="http://schemas.openxmlformats.org/officeDocument/2006/relationships/notesSlide" Target="/ppt/notesSlides/notesSlide8.xml" Id="Re0e2e3dcb1c741c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2a71801d674099" /><Relationship Type="http://schemas.openxmlformats.org/officeDocument/2006/relationships/notesSlide" Target="/ppt/notesSlides/notesSlide9.xml" Id="R935e9f82c14e400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b37a1f493f45f7" /><Relationship Type="http://schemas.openxmlformats.org/officeDocument/2006/relationships/notesSlide" Target="/ppt/notesSlides/notesSlide10.xml" Id="R29983fc01147445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3-1">
            <a:extLst xmlns:a="http://schemas.openxmlformats.org/drawingml/2006/main">
              <a:ext uri="{FF2B5EF4-FFF2-40B4-BE49-F238E27FC236}">
                <a16:creationId xmlns:a16="http://schemas.microsoft.com/office/drawing/2014/main" id="{676F96C9-DE75-4BDD-A06F-C71BAB5CA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Automate AEO without automating mediocrity.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3C2252DE-C3EC-4641-A191-3904EADB0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 portable, evidence-gated publishing system for ChatGPT desktop + Codex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37A345BB-9A11-4399-BEEA-7B4799054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BUILD ROOM • OS CORTEX</a:t>
            </a:r>
          </a:p>
        </p:txBody>
      </p:sp>
    </p:spTree>
    <p:extLst>
      <p:ext uri="{BB962C8B-B14F-4D97-AF65-F5344CB8AC3E}">
        <p14:creationId xmlns:p14="http://schemas.microsoft.com/office/powerpoint/2010/main" val="122489071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4706D189-6B70-417A-94D5-9C7C839AB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606A01E2-3426-4FFE-8585-AB1252641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AEO is a system—not a content trick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5A55CF66-F39F-4877-AE89-8E9114ED3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One authority domain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Publish a growing answer library on the client’s established site. Compounding topical depth beats disposable microsites.</a:t>
            </a:r>
          </a:p>
        </p:txBody>
      </p:sp>
      <p:sp>
        <p:nvSpPr>
          <p:cNvPr id="4" name="Content-Placeholder-1-5">
            <a:extLst xmlns:a="http://schemas.openxmlformats.org/drawingml/2006/main">
              <a:ext uri="{FF2B5EF4-FFF2-40B4-BE49-F238E27FC236}">
                <a16:creationId xmlns:a16="http://schemas.microsoft.com/office/drawing/2014/main" id="{601025E1-37EF-4670-8649-8D58D937D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Original utility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Add firsthand expertise, a useful framework, data, examples, or a tool that competing pages do not provide.</a:t>
            </a:r>
          </a:p>
        </p:txBody>
      </p:sp>
      <p:sp>
        <p:nvSpPr>
          <p:cNvPr id="5" name="Content-Placeholder-2-6">
            <a:extLst xmlns:a="http://schemas.openxmlformats.org/drawingml/2006/main">
              <a:ext uri="{FF2B5EF4-FFF2-40B4-BE49-F238E27FC236}">
                <a16:creationId xmlns:a16="http://schemas.microsoft.com/office/drawing/2014/main" id="{13F60A17-F689-4771-8A79-2A92D187F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Evidence first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Start with the question and primary sources. Every factual or numerical claim needs a visible citation ledger.</a:t>
            </a:r>
          </a:p>
        </p:txBody>
      </p:sp>
    </p:spTree>
    <p:extLst>
      <p:ext uri="{BB962C8B-B14F-4D97-AF65-F5344CB8AC3E}">
        <p14:creationId xmlns:p14="http://schemas.microsoft.com/office/powerpoint/2010/main" val="62408595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669E80D2-4D0C-45CC-BFA3-6290FAC69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03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E1B53A0B-9EDF-43AE-BD07-99ECFC06C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daily loop turns questions into compounding authority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F5F9D360-CFD4-49D3-8EE6-DF924BA7B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 — Discover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Expand the question map from real demand, search data, objections, comparisons, and citation gaps.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9E85CC71-3046-40A9-8720-C57F24D8B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 — Research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Use at least three authoritative sources and map each claim before drafting.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3097DACA-4801-4428-8EB0-7508FC196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 — Build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Create one direct, extractable answer page with internal links, schema, and a relevant next action.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825080FD-A4C9-49B2-8FDE-00115309D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 — Verify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Publish only after factuality, duplication, crawlability, accessibility, build, and brand gates pass.</a:t>
            </a:r>
          </a:p>
        </p:txBody>
      </p:sp>
    </p:spTree>
    <p:extLst>
      <p:ext uri="{BB962C8B-B14F-4D97-AF65-F5344CB8AC3E}">
        <p14:creationId xmlns:p14="http://schemas.microsoft.com/office/powerpoint/2010/main" val="175860711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EC06EE3A-98E1-4168-BA2F-C1915207E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04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064E0AE7-A72F-4074-9F9C-C36F58E4C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Unattended does not mean ungoverned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CC02E469-2DAE-482C-BF0A-322D366F5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22406"/>
            <a:ext cx="5537168" cy="8651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Weak runs are quarantined. Nothing publishes after a failed gate.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A7FF9E1A-9C50-4B7A-B09A-68AC80812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90279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FACTUALITY</a:t>
            </a:r>
          </a:p>
        </p:txBody>
      </p:sp>
      <p:sp>
        <p:nvSpPr>
          <p:cNvPr id="5" name="Google-Shape-340-p61-6">
            <a:extLst xmlns:a="http://schemas.openxmlformats.org/drawingml/2006/main">
              <a:ext uri="{FF2B5EF4-FFF2-40B4-BE49-F238E27FC236}">
                <a16:creationId xmlns:a16="http://schemas.microsoft.com/office/drawing/2014/main" id="{94E361EE-72BF-4ECA-B90E-78215FC3B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3015139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6" name="TextBox-11-7">
            <a:extLst xmlns:a="http://schemas.openxmlformats.org/drawingml/2006/main">
              <a:ext uri="{FF2B5EF4-FFF2-40B4-BE49-F238E27FC236}">
                <a16:creationId xmlns:a16="http://schemas.microsoft.com/office/drawing/2014/main" id="{FE14345C-3315-4324-B96B-BDDE498F7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990279"/>
            <a:ext cx="5537168" cy="28846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Content: 3+ sources • answer in first 100 words • evidence for every claim • original contribution</a:t>
            </a:r>
          </a:p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Technical: citations resolve • schema matches • canonical 200 • robots, sitemap, and build pass</a:t>
            </a:r>
          </a:p>
        </p:txBody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A7461AF8-E5DF-4F2D-8675-9CA78281F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99879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CITATIONS</a:t>
            </a:r>
          </a:p>
        </p:txBody>
      </p:sp>
      <p:sp>
        <p:nvSpPr>
          <p:cNvPr id="8" name="Google-Shape-340-p61-9">
            <a:extLst xmlns:a="http://schemas.openxmlformats.org/drawingml/2006/main">
              <a:ext uri="{FF2B5EF4-FFF2-40B4-BE49-F238E27FC236}">
                <a16:creationId xmlns:a16="http://schemas.microsoft.com/office/drawing/2014/main" id="{E4BEB113-8239-4480-84AE-25E723BF6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3624739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Content-Placeholder-10-10">
            <a:extLst xmlns:a="http://schemas.openxmlformats.org/drawingml/2006/main">
              <a:ext uri="{FF2B5EF4-FFF2-40B4-BE49-F238E27FC236}">
                <a16:creationId xmlns:a16="http://schemas.microsoft.com/office/drawing/2014/main" id="{DEB913B2-3550-46E2-9052-F5082BF25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14813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ORIGINALITY</a:t>
            </a:r>
          </a:p>
        </p:txBody>
      </p:sp>
      <p:sp>
        <p:nvSpPr>
          <p:cNvPr id="10" name="Google-Shape-340-p61-11">
            <a:extLst xmlns:a="http://schemas.openxmlformats.org/drawingml/2006/main">
              <a:ext uri="{FF2B5EF4-FFF2-40B4-BE49-F238E27FC236}">
                <a16:creationId xmlns:a16="http://schemas.microsoft.com/office/drawing/2014/main" id="{A8A06CFE-8A4F-462F-922A-B8D515042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4239578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1" name="Content-Placeholder-10-12">
            <a:extLst xmlns:a="http://schemas.openxmlformats.org/drawingml/2006/main">
              <a:ext uri="{FF2B5EF4-FFF2-40B4-BE49-F238E27FC236}">
                <a16:creationId xmlns:a16="http://schemas.microsoft.com/office/drawing/2014/main" id="{4C2973D1-B3B3-46AB-BDF0-E979114CE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24317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BRAND + LEGAL</a:t>
            </a:r>
          </a:p>
        </p:txBody>
      </p:sp>
      <p:sp>
        <p:nvSpPr>
          <p:cNvPr id="12" name="Google-Shape-340-p61-13">
            <a:extLst xmlns:a="http://schemas.openxmlformats.org/drawingml/2006/main">
              <a:ext uri="{FF2B5EF4-FFF2-40B4-BE49-F238E27FC236}">
                <a16:creationId xmlns:a16="http://schemas.microsoft.com/office/drawing/2014/main" id="{285D2850-742A-40A1-9C5C-1272B3B57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4849178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3" name="Content-Placeholder-10-14">
            <a:extLst xmlns:a="http://schemas.openxmlformats.org/drawingml/2006/main">
              <a:ext uri="{FF2B5EF4-FFF2-40B4-BE49-F238E27FC236}">
                <a16:creationId xmlns:a16="http://schemas.microsoft.com/office/drawing/2014/main" id="{0541D4C8-F28B-4F05-8379-D377172FB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446681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BUILD + CRAWL</a:t>
            </a:r>
          </a:p>
        </p:txBody>
      </p:sp>
      <p:sp>
        <p:nvSpPr>
          <p:cNvPr id="14" name="Google-Shape-340-p61-15">
            <a:extLst xmlns:a="http://schemas.openxmlformats.org/drawingml/2006/main">
              <a:ext uri="{FF2B5EF4-FFF2-40B4-BE49-F238E27FC236}">
                <a16:creationId xmlns:a16="http://schemas.microsoft.com/office/drawing/2014/main" id="{76BDE0A6-08D1-467C-ABBF-506AEB389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5471541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</p:spTree>
    <p:extLst>
      <p:ext uri="{BB962C8B-B14F-4D97-AF65-F5344CB8AC3E}">
        <p14:creationId xmlns:p14="http://schemas.microsoft.com/office/powerpoint/2010/main" val="153786730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22D5BCB0-4360-4A55-A0A8-8B4DA99DD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05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355F8606-9C24-4F43-8889-12F74A1FE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Members install a portable operating system</a:t>
            </a:r>
          </a:p>
        </p:txBody>
      </p:sp>
      <p:sp>
        <p:nvSpPr>
          <p:cNvPr id="3" name="Rounded-Rectangle-6-4">
            <a:extLst xmlns:a="http://schemas.openxmlformats.org/drawingml/2006/main">
              <a:ext uri="{FF2B5EF4-FFF2-40B4-BE49-F238E27FC236}">
                <a16:creationId xmlns:a16="http://schemas.microsoft.com/office/drawing/2014/main" id="{B4C4EE3E-E62C-4B09-BD7B-82411BB2B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236982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E3F46545-F9F6-4978-A36B-0179F361C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77" y="266480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73795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Daily publisher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Question scoring, evidence-led drafting, deterministic validation, publication, and run logs.</a:t>
            </a:r>
          </a:p>
        </p:txBody>
      </p:sp>
      <p:sp>
        <p:nvSpPr>
          <p:cNvPr id="5" name="Rounded-Rectangle-8-6">
            <a:extLst xmlns:a="http://schemas.openxmlformats.org/drawingml/2006/main">
              <a:ext uri="{FF2B5EF4-FFF2-40B4-BE49-F238E27FC236}">
                <a16:creationId xmlns:a16="http://schemas.microsoft.com/office/drawing/2014/main" id="{B3581C3B-1B35-44ED-9399-A6765946A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04" y="236982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B8627566-91CF-4A2D-8F60-DB0E536BB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9" y="266480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91333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Client onboarding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Guided intake, brand guardrails, connection matrix, and preflight checks.</a:t>
            </a:r>
          </a:p>
        </p:txBody>
      </p:sp>
      <p:sp>
        <p:nvSpPr>
          <p:cNvPr id="7" name="Rounded-Rectangle-1-8">
            <a:extLst xmlns:a="http://schemas.openxmlformats.org/drawingml/2006/main">
              <a:ext uri="{FF2B5EF4-FFF2-40B4-BE49-F238E27FC236}">
                <a16:creationId xmlns:a16="http://schemas.microsoft.com/office/drawing/2014/main" id="{C6B0FAC6-7A29-46DB-A56F-C27BCEB85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437007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Content-Placeholder-10-9">
            <a:extLst xmlns:a="http://schemas.openxmlformats.org/drawingml/2006/main">
              <a:ext uri="{FF2B5EF4-FFF2-40B4-BE49-F238E27FC236}">
                <a16:creationId xmlns:a16="http://schemas.microsoft.com/office/drawing/2014/main" id="{4CB21583-E4D7-4BE1-A90B-13E32AEB0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77" y="466505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8082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Facilitator system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Installation scripts, demo agenda, supervised rollout, and marketplace deployment guide.</a:t>
            </a:r>
          </a:p>
        </p:txBody>
      </p:sp>
      <p:sp>
        <p:nvSpPr>
          <p:cNvPr id="9" name="Rounded-Rectangle-3-10">
            <a:extLst xmlns:a="http://schemas.openxmlformats.org/drawingml/2006/main">
              <a:ext uri="{FF2B5EF4-FFF2-40B4-BE49-F238E27FC236}">
                <a16:creationId xmlns:a16="http://schemas.microsoft.com/office/drawing/2014/main" id="{EC11EB56-DF23-4982-A336-4BA11509B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04" y="437007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10-11">
            <a:extLst xmlns:a="http://schemas.openxmlformats.org/drawingml/2006/main">
              <a:ext uri="{FF2B5EF4-FFF2-40B4-BE49-F238E27FC236}">
                <a16:creationId xmlns:a16="http://schemas.microsoft.com/office/drawing/2014/main" id="{BB6AE855-358C-4AEC-904F-D2742E948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9" y="466505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73598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Reusable assets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Brand YAML, question queue, measurement prompts, answer template, and security checklist.</a:t>
            </a:r>
          </a:p>
        </p:txBody>
      </p:sp>
      <p:sp>
        <p:nvSpPr>
          <p:cNvPr id="11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3AF9A3F4-57A0-4EF2-B22E-1D9C9A7BE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OS Cortex AEO Publisher plugin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 private Git-backed package works across independent personal and business accounts on Mac and Windows.</a:t>
            </a:r>
          </a:p>
        </p:txBody>
      </p:sp>
    </p:spTree>
    <p:extLst>
      <p:ext uri="{BB962C8B-B14F-4D97-AF65-F5344CB8AC3E}">
        <p14:creationId xmlns:p14="http://schemas.microsoft.com/office/powerpoint/2010/main" val="42412322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23958045-339E-4D78-B02F-2D1321DC5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06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64152E42-8E0E-482D-971B-E4C9E5515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6442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One package, two delivery models</a:t>
            </a:r>
          </a:p>
        </p:txBody>
      </p:sp>
      <p:sp>
        <p:nvSpPr>
          <p:cNvPr id="3" name="Rounded-Rectangle-1-4">
            <a:extLst xmlns:a="http://schemas.openxmlformats.org/drawingml/2006/main">
              <a:ext uri="{FF2B5EF4-FFF2-40B4-BE49-F238E27FC236}">
                <a16:creationId xmlns:a16="http://schemas.microsoft.com/office/drawing/2014/main" id="{E3A64A1F-B91F-49BD-8D8C-157EA7363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02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F498652D-2154-4CA3-B4F8-272402B5A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OS CORTEX CLIENT EDITION</a:t>
            </a:r>
          </a:p>
        </p:txBody>
      </p:sp>
      <p:sp>
        <p:nvSpPr>
          <p:cNvPr id="5" name="Content-Placeholder-15-6">
            <a:extLst xmlns:a="http://schemas.openxmlformats.org/drawingml/2006/main">
              <a:ext uri="{FF2B5EF4-FFF2-40B4-BE49-F238E27FC236}">
                <a16:creationId xmlns:a16="http://schemas.microsoft.com/office/drawing/2014/main" id="{CB075E13-BBE2-428A-B72C-59B7C98A5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White-glove setup and brand configuration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Three supervised publications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Optional reporting and governance retainer</a:t>
            </a:r>
          </a:p>
        </p:txBody>
      </p:sp>
      <p:sp>
        <p:nvSpPr>
          <p:cNvPr id="6" name="Rounded-Rectangle-7-7">
            <a:extLst xmlns:a="http://schemas.openxmlformats.org/drawingml/2006/main">
              <a:ext uri="{FF2B5EF4-FFF2-40B4-BE49-F238E27FC236}">
                <a16:creationId xmlns:a16="http://schemas.microsoft.com/office/drawing/2014/main" id="{88F904B6-360A-4C1A-A5F8-20BFF0C3D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3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62F2DA75-266F-4AB6-818A-16A08E6C5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BUILD ROOM / PLATINUM EDITION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81359E92-01B7-436A-BA37-451607B14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Self-install from the private marketplace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Workshop-led first run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Community support and update channel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E907D2AC-1FBE-4E7E-AC2C-9A3485316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157478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Same governed engine. Different service boundary.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client owns the account, site, credentials, and generated work.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Your team supplies the operating system, standards, onboarding, and optional oversight.</a:t>
            </a:r>
          </a:p>
        </p:txBody>
      </p:sp>
    </p:spTree>
    <p:extLst>
      <p:ext uri="{BB962C8B-B14F-4D97-AF65-F5344CB8AC3E}">
        <p14:creationId xmlns:p14="http://schemas.microsoft.com/office/powerpoint/2010/main" val="71362017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B83ED3A0-133D-457F-B591-38D9D23B7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07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BD126339-A1DA-44A1-A9BF-28DF0CF65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first three publications stay supervised</a:t>
            </a:r>
          </a:p>
        </p:txBody>
      </p:sp>
      <p:cxnSp>
        <p:nvCxnSpPr>
          <p:cNvPr id="15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F3D75AD2-67AC-495B-9A32-20DC2C209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A3DF4E50-2508-44D6-8474-C3C41305A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47873817-C521-4A09-86D8-1E20DA411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7CFEB66E-E928-422A-A0B9-622FCF3D0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STAGE 1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A666C405-0DE3-43DE-82B8-F5DF2261E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STAGE 2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55A52E61-0BD1-48FF-98DF-300B6213D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STAGE 3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A57EA0E6-C593-41FE-9F3A-73617D37E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Prove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Run three supervised pages. Inspect sources, claim ledger, rendered page, gates, and rollback path.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3951394E-E4F8-4E2B-B45D-E72570632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Configure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Complete brand truth, prohibited claims, reviewer, canonical domain, CTA, source-of-truth URLs, and integrations.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D97CD2BA-6334-49F8-B572-4FEAF63FF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Automate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Schedule daily only after all three succeed. Review weekly metrics and quarantine reports; recalibrate monthly.</a:t>
            </a:r>
          </a:p>
        </p:txBody>
      </p:sp>
    </p:spTree>
    <p:extLst>
      <p:ext uri="{BB962C8B-B14F-4D97-AF65-F5344CB8AC3E}">
        <p14:creationId xmlns:p14="http://schemas.microsoft.com/office/powerpoint/2010/main" val="51737608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29644DCD-D379-4728-A2DE-7BBDECDB6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08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C029754F-1CDE-4802-9A0D-96D128F09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Credentials create the feedback loop—not the quality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C2024893-9FFB-4990-9428-5DF0E3532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Core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ChatGPT desktop + Codex, the client’s website project, public deployment access, and web research.</a:t>
            </a:r>
          </a:p>
        </p:txBody>
      </p:sp>
      <p:sp>
        <p:nvSpPr>
          <p:cNvPr id="4" name="Content-Placeholder-1-5">
            <a:extLst xmlns:a="http://schemas.openxmlformats.org/drawingml/2006/main">
              <a:ext uri="{FF2B5EF4-FFF2-40B4-BE49-F238E27FC236}">
                <a16:creationId xmlns:a16="http://schemas.microsoft.com/office/drawing/2014/main" id="{67D0ACD6-7A15-47E1-BDA7-8DF9CE445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99107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Measurement proxies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OpenAI, Claude, Perplexity, and Gemini APIs sample citation trends. They do not expose consumer-app rankings.</a:t>
            </a:r>
          </a:p>
        </p:txBody>
      </p:sp>
      <p:sp>
        <p:nvSpPr>
          <p:cNvPr id="5" name="Content-Placeholder-2-6">
            <a:extLst xmlns:a="http://schemas.openxmlformats.org/drawingml/2006/main">
              <a:ext uri="{FF2B5EF4-FFF2-40B4-BE49-F238E27FC236}">
                <a16:creationId xmlns:a16="http://schemas.microsoft.com/office/drawing/2014/main" id="{6EE104A2-675B-4DA9-87FB-4C963E46E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99107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Recommended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Google Search Console, Bing Webmaster Tools, IndexNow, and GA4 for indexing, demand, referrals, and conversions.</a:t>
            </a:r>
          </a:p>
        </p:txBody>
      </p:sp>
    </p:spTree>
    <p:extLst>
      <p:ext uri="{BB962C8B-B14F-4D97-AF65-F5344CB8AC3E}">
        <p14:creationId xmlns:p14="http://schemas.microsoft.com/office/powerpoint/2010/main" val="151474172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305EEE4D-2241-4CE6-9E7F-A05BC950B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09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587D6C9E-852C-46F4-8CC0-A03446070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live install takes one command and one prompt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5872EA48-5774-41BD-90C6-DD8D0CB23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22406"/>
            <a:ext cx="5537168" cy="8651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Each member installs inside their own account. Credentials stay with the client.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6A083F09-4C38-4DEF-8363-CFD4827AA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90279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MAC</a:t>
            </a:r>
          </a:p>
        </p:txBody>
      </p:sp>
      <p:sp>
        <p:nvSpPr>
          <p:cNvPr id="5" name="Google-Shape-340-p61-6">
            <a:extLst xmlns:a="http://schemas.openxmlformats.org/drawingml/2006/main">
              <a:ext uri="{FF2B5EF4-FFF2-40B4-BE49-F238E27FC236}">
                <a16:creationId xmlns:a16="http://schemas.microsoft.com/office/drawing/2014/main" id="{EC51F704-BDAC-4771-9516-45802AE7A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3015139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6" name="TextBox-11-7">
            <a:extLst xmlns:a="http://schemas.openxmlformats.org/drawingml/2006/main">
              <a:ext uri="{FF2B5EF4-FFF2-40B4-BE49-F238E27FC236}">
                <a16:creationId xmlns:a16="http://schemas.microsoft.com/office/drawing/2014/main" id="{25CFC6BE-5579-4D9F-8391-F7AA3556A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990279"/>
            <a:ext cx="5537168" cy="28846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Mac: ./install-mac.sh     Windows: .\install-windows.ps1     Restart Codex, then install the plugin.</a:t>
            </a:r>
          </a:p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Prompt: Use $aeo-client-onboarding. Configure this brand, validate the starter files, and create the three-run supervised rollout plan. Do not publish.</a:t>
            </a:r>
          </a:p>
        </p:txBody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B441F0F8-44C0-4406-AD48-8ACB943A2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99879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WINDOWS</a:t>
            </a:r>
          </a:p>
        </p:txBody>
      </p:sp>
      <p:sp>
        <p:nvSpPr>
          <p:cNvPr id="8" name="Google-Shape-340-p61-9">
            <a:extLst xmlns:a="http://schemas.openxmlformats.org/drawingml/2006/main">
              <a:ext uri="{FF2B5EF4-FFF2-40B4-BE49-F238E27FC236}">
                <a16:creationId xmlns:a16="http://schemas.microsoft.com/office/drawing/2014/main" id="{570C3CC6-B618-44FA-91EA-3BA70129D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3624739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Content-Placeholder-10-10">
            <a:extLst xmlns:a="http://schemas.openxmlformats.org/drawingml/2006/main">
              <a:ext uri="{FF2B5EF4-FFF2-40B4-BE49-F238E27FC236}">
                <a16:creationId xmlns:a16="http://schemas.microsoft.com/office/drawing/2014/main" id="{29AEEFD5-3AA4-4527-B8F9-63B2E9A65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14813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RESTART</a:t>
            </a:r>
          </a:p>
        </p:txBody>
      </p:sp>
      <p:sp>
        <p:nvSpPr>
          <p:cNvPr id="10" name="Google-Shape-340-p61-11">
            <a:extLst xmlns:a="http://schemas.openxmlformats.org/drawingml/2006/main">
              <a:ext uri="{FF2B5EF4-FFF2-40B4-BE49-F238E27FC236}">
                <a16:creationId xmlns:a16="http://schemas.microsoft.com/office/drawing/2014/main" id="{841EBF2A-38DA-4073-BF08-1E1708ADC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4239578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1" name="Content-Placeholder-10-12">
            <a:extLst xmlns:a="http://schemas.openxmlformats.org/drawingml/2006/main">
              <a:ext uri="{FF2B5EF4-FFF2-40B4-BE49-F238E27FC236}">
                <a16:creationId xmlns:a16="http://schemas.microsoft.com/office/drawing/2014/main" id="{45D339D1-45C5-491F-8A16-678C9AA00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24317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INSTALL</a:t>
            </a:r>
          </a:p>
        </p:txBody>
      </p:sp>
      <p:sp>
        <p:nvSpPr>
          <p:cNvPr id="12" name="Google-Shape-340-p61-13">
            <a:extLst xmlns:a="http://schemas.openxmlformats.org/drawingml/2006/main">
              <a:ext uri="{FF2B5EF4-FFF2-40B4-BE49-F238E27FC236}">
                <a16:creationId xmlns:a16="http://schemas.microsoft.com/office/drawing/2014/main" id="{5DA0BE1A-3225-4A74-A1B5-B84DF3EE0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4849178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3" name="Content-Placeholder-10-14">
            <a:extLst xmlns:a="http://schemas.openxmlformats.org/drawingml/2006/main">
              <a:ext uri="{FF2B5EF4-FFF2-40B4-BE49-F238E27FC236}">
                <a16:creationId xmlns:a16="http://schemas.microsoft.com/office/drawing/2014/main" id="{FFF11FBE-4E83-43BC-BE39-C75BACA1B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446681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ONBOARD</a:t>
            </a:r>
          </a:p>
        </p:txBody>
      </p:sp>
      <p:sp>
        <p:nvSpPr>
          <p:cNvPr id="14" name="Google-Shape-340-p61-15">
            <a:extLst xmlns:a="http://schemas.openxmlformats.org/drawingml/2006/main">
              <a:ext uri="{FF2B5EF4-FFF2-40B4-BE49-F238E27FC236}">
                <a16:creationId xmlns:a16="http://schemas.microsoft.com/office/drawing/2014/main" id="{C4DF064B-AB9A-4748-AE36-DEA1F6EC6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5471541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</p:spTree>
    <p:extLst>
      <p:ext uri="{BB962C8B-B14F-4D97-AF65-F5344CB8AC3E}">
        <p14:creationId xmlns:p14="http://schemas.microsoft.com/office/powerpoint/2010/main" val="44718662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3-1">
            <a:extLst xmlns:a="http://schemas.openxmlformats.org/drawingml/2006/main">
              <a:ext uri="{FF2B5EF4-FFF2-40B4-BE49-F238E27FC236}">
                <a16:creationId xmlns:a16="http://schemas.microsoft.com/office/drawing/2014/main" id="{F9651B28-A745-4362-A4CA-164A8A535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One brand. One domain. One useful answer.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65291C6D-9A06-41CF-A773-DDCCD57FC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Install the plugin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Complete brand intake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Run publication #1 together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53A6EBB6-ED5E-4A0B-8C33-EEA0A8342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START SMALL.</a:t>
            </a:r>
          </a:p>
        </p:txBody>
      </p:sp>
    </p:spTree>
    <p:extLst>
      <p:ext uri="{BB962C8B-B14F-4D97-AF65-F5344CB8AC3E}">
        <p14:creationId xmlns:p14="http://schemas.microsoft.com/office/powerpoint/2010/main" val="4064731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2026-07-15T18:39:54.6860000Z</dcterms:created>
  <dcterms:modified xsi:type="dcterms:W3CDTF">2026-07-15T18:39:54.6860000Z</dcterms:modified>
</coreProperties>
</file>